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0" autoAdjust="0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09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2E23-7D4B-1677-2B0F-4EB90B2D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189FD-D26D-447C-020F-07594843C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7C99E-780D-1E39-31AB-97B13E513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F9E26-ADF2-8753-39B8-DC843FE81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03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adislavpykhteev/project_bubbl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igma.com/design/UbuvYRiIjxk0NmgLaX0tqp/&#1069;&#1082;&#1088;&#1072;&#1085;&#1099;-&#1076;&#1083;&#1103;-bubble?node-id=0-1&amp;p=f&amp;t=McwqbZVfemnogLMc-0" TargetMode="External"/><Relationship Id="rId4" Type="http://schemas.openxmlformats.org/officeDocument/2006/relationships/hyperlink" Target="https://final-project-99579.bubbleapps.io/version-tes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8016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КУРСОВОЙ ПРОЕКТ · ПРОГРАММИРОВАНИЕ БЕЗ КОДА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Правовой маршрутизатор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Веб-приложение для юридического сопровождения подразделений компании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5120640"/>
            <a:ext cx="3657600" cy="0"/>
          </a:xfrm>
          <a:prstGeom prst="line">
            <a:avLst/>
          </a:prstGeom>
          <a:noFill/>
          <a:ln w="25400">
            <a:solidFill>
              <a:srgbClr val="3B5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Команда проекта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Андрианова · Бахтина · Кабанова · Коробова · Премудров · Пыхтеев</a:t>
            </a:r>
            <a:endParaRPr lang="en-US" sz="15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BEF3EEF-F8A2-2071-90D6-8FE665FA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90" y="135255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05C29-08CC-07D4-3326-77AC4C56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7708B1-82BF-D2F5-2CD8-EDAF9266B3B4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6C51E6-E696-1888-1FBE-F667CEC663C8}"/>
              </a:ext>
            </a:extLst>
          </p:cNvPr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Правовой маршрутизатор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914FBD-C2AB-AA9B-A408-8F11160F5E76}"/>
              </a:ext>
            </a:extLst>
          </p:cNvPr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Основные ссылки проекта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833CA9-718E-F4AA-426C-46E964DADA14}"/>
              </a:ext>
            </a:extLst>
          </p:cNvPr>
          <p:cNvSpPr/>
          <p:nvPr/>
        </p:nvSpPr>
        <p:spPr>
          <a:xfrm>
            <a:off x="548639" y="2954230"/>
            <a:ext cx="10972799" cy="949539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33CEB5-7ACE-8605-E88E-175A2601D4D7}"/>
              </a:ext>
            </a:extLst>
          </p:cNvPr>
          <p:cNvSpPr/>
          <p:nvPr/>
        </p:nvSpPr>
        <p:spPr>
          <a:xfrm>
            <a:off x="880059" y="2974684"/>
            <a:ext cx="496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  <a:hlinkClick r:id="rId3"/>
              </a:rPr>
              <a:t>Репозиторий </a:t>
            </a: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  <a:hlinkClick r:id="rId3"/>
              </a:rPr>
              <a:t>GitHub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08FED2-9961-5504-8750-3EA8DD9EF2B7}"/>
              </a:ext>
            </a:extLst>
          </p:cNvPr>
          <p:cNvSpPr/>
          <p:nvPr/>
        </p:nvSpPr>
        <p:spPr>
          <a:xfrm>
            <a:off x="6178767" y="3043264"/>
            <a:ext cx="52512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https://github.com/vladislavpykhteev/project_bubble</a:t>
            </a:r>
            <a:endParaRPr lang="en-US" sz="11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57F3EFF8-783F-A170-7CFC-635EEE887949}"/>
              </a:ext>
            </a:extLst>
          </p:cNvPr>
          <p:cNvSpPr/>
          <p:nvPr/>
        </p:nvSpPr>
        <p:spPr>
          <a:xfrm>
            <a:off x="880059" y="3499959"/>
            <a:ext cx="105499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Хранение файлов по проекту – описание приложения, функциональных возможностей, инструкции, примеры, статьи базы данных, полное описание всех маршрутов </a:t>
            </a:r>
            <a:endParaRPr lang="en-US" sz="11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280D86F2-4FB2-4566-DC2A-D8006A47F060}"/>
              </a:ext>
            </a:extLst>
          </p:cNvPr>
          <p:cNvSpPr/>
          <p:nvPr/>
        </p:nvSpPr>
        <p:spPr>
          <a:xfrm>
            <a:off x="548639" y="1865125"/>
            <a:ext cx="10972799" cy="949539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688397F0-EBEE-CD19-2CE8-A9FB8E079A0B}"/>
              </a:ext>
            </a:extLst>
          </p:cNvPr>
          <p:cNvSpPr/>
          <p:nvPr/>
        </p:nvSpPr>
        <p:spPr>
          <a:xfrm>
            <a:off x="880058" y="1885579"/>
            <a:ext cx="52159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E3A5F"/>
                </a:solidFill>
                <a:hlinkClick r:id="rId4"/>
              </a:rPr>
              <a:t>Веб-приложение «Правовой маршрутизатор»</a:t>
            </a:r>
            <a:endParaRPr lang="en-US" sz="20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165A41D9-5DA9-DA52-9D80-9FEE3C0030AA}"/>
              </a:ext>
            </a:extLst>
          </p:cNvPr>
          <p:cNvSpPr/>
          <p:nvPr/>
        </p:nvSpPr>
        <p:spPr>
          <a:xfrm>
            <a:off x="6178767" y="1954159"/>
            <a:ext cx="52512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https://final-project-99579.bubbleapps.io/version-test</a:t>
            </a:r>
            <a:endParaRPr lang="en-US" sz="11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1A003FAA-9FB0-EA97-DDE0-0E1633A5E1D9}"/>
              </a:ext>
            </a:extLst>
          </p:cNvPr>
          <p:cNvSpPr/>
          <p:nvPr/>
        </p:nvSpPr>
        <p:spPr>
          <a:xfrm>
            <a:off x="880059" y="2410854"/>
            <a:ext cx="105499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Пользовательский режим веб-приложения «Правовой маршрутизатор»</a:t>
            </a:r>
            <a:endParaRPr lang="en-US" sz="1100" dirty="0">
              <a:solidFill>
                <a:srgbClr val="6B7280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B39E0181-CA30-95D5-39D3-1359C9761F78}"/>
              </a:ext>
            </a:extLst>
          </p:cNvPr>
          <p:cNvSpPr/>
          <p:nvPr/>
        </p:nvSpPr>
        <p:spPr>
          <a:xfrm>
            <a:off x="548641" y="4040424"/>
            <a:ext cx="10972799" cy="949539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9D603E1E-CB64-07D3-0ECC-ECB0160BDFD0}"/>
              </a:ext>
            </a:extLst>
          </p:cNvPr>
          <p:cNvSpPr/>
          <p:nvPr/>
        </p:nvSpPr>
        <p:spPr>
          <a:xfrm>
            <a:off x="880061" y="4060878"/>
            <a:ext cx="496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  <a:hlinkClick r:id="rId5"/>
              </a:rPr>
              <a:t>Макеты экранов</a:t>
            </a:r>
            <a:endParaRPr lang="en-US" sz="20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7E516A9A-3387-D76F-F23A-29A65772E163}"/>
              </a:ext>
            </a:extLst>
          </p:cNvPr>
          <p:cNvSpPr/>
          <p:nvPr/>
        </p:nvSpPr>
        <p:spPr>
          <a:xfrm>
            <a:off x="6178769" y="4129458"/>
            <a:ext cx="52512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https://www.figma.com/design/UbuvYRiIjxk0NmgLaX0tqp/</a:t>
            </a:r>
            <a:r>
              <a:rPr lang="ru-RU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Экраны-для-</a:t>
            </a:r>
            <a:r>
              <a:rPr lang="en-US" sz="1100" dirty="0" err="1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bubble?node-id</a:t>
            </a:r>
            <a:r>
              <a:rPr lang="en-US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=0-1&amp;p=</a:t>
            </a:r>
            <a:r>
              <a:rPr lang="en-US" sz="1100" dirty="0" err="1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f&amp;t</a:t>
            </a:r>
            <a:r>
              <a:rPr lang="en-US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=McwqbZVfemnogLMc-0</a:t>
            </a:r>
            <a:endParaRPr lang="en-US" sz="11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F368C51-346D-8316-3C64-2A35F10A9393}"/>
              </a:ext>
            </a:extLst>
          </p:cNvPr>
          <p:cNvSpPr/>
          <p:nvPr/>
        </p:nvSpPr>
        <p:spPr>
          <a:xfrm>
            <a:off x="880061" y="4586153"/>
            <a:ext cx="105499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Дизайн-макеты всех страниц приложения</a:t>
            </a:r>
            <a:r>
              <a:rPr lang="en-US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в </a:t>
            </a:r>
            <a:r>
              <a:rPr lang="en-US" sz="11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Figma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7035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Правовой маршрутизатор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Содержание презентации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5C8F"/>
                </a:solidFill>
                <a:ea typeface="Trebuchet MS" pitchFamily="34" charset="-122"/>
                <a:cs typeface="Trebuchet MS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92024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Кому и зачем нужен сервис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5C8F"/>
                </a:solidFill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Концепция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Как работает «маршрутизатор»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74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5C8F"/>
                </a:solidFill>
                <a:ea typeface="Trebuchet MS" pitchFamily="34" charset="-122"/>
                <a:cs typeface="Trebuchet MS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92024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Архитектура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Структура страниц и данных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24612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74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5C8F"/>
                </a:solidFill>
                <a:ea typeface="Trebuchet MS" pitchFamily="34" charset="-122"/>
                <a:cs typeface="Trebuchet MS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58952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Демонстрация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8952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Главное меню, формы, результаты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92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5C8F"/>
                </a:solidFill>
                <a:ea typeface="Trebuchet MS" pitchFamily="34" charset="-122"/>
                <a:cs typeface="Trebuchet MS" pitchFamily="34" charset="-120"/>
              </a:rPr>
              <a:t>05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920240" y="4937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База знаний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920240" y="5394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Поиск, фильтрация, статьи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892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5C8F"/>
                </a:solidFill>
                <a:ea typeface="Trebuchet MS" pitchFamily="34" charset="-122"/>
                <a:cs typeface="Trebuchet MS" pitchFamily="34" charset="-120"/>
              </a:rPr>
              <a:t>06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7589520" y="4937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Технологии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89520" y="5394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Bubble и итоги проекта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Правовой маршрутизатор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Юридическая служба перегружена однотипными обращениями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941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обращений в </a:t>
            </a:r>
            <a:r>
              <a:rPr lang="en-US" sz="1400" dirty="0" err="1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юр.службу</a:t>
            </a:r>
            <a:r>
              <a:rPr lang="en-US" sz="14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- типовые и решаемые по регламенту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2194560"/>
            <a:ext cx="36941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468880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1–3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681728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рабочих дня теряется из-за неправильно оформленных заявок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66176" y="2194560"/>
            <a:ext cx="36941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0496" y="2468880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540496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единой точки входа для запросов от подразделений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720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Нужен сервис, который правильно направит запрос, оформит документы и снимет рутину с юристов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Правовой маршрутизатор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Концепция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Сценарий работы за 4 шага: от запроса до готового пакета документов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724912" cy="365760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6032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Выбор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Пользователь выбирает направление: договор, претензия или база знаний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2194560"/>
            <a:ext cx="2724912" cy="365760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256032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03320" y="3657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Маршрут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4206240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Уточняющие вопросы по веткам подбирают нужный путь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194560"/>
            <a:ext cx="2724912" cy="365760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56032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Запрос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4206240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Создаётся запрос со всеми реквизитами и приложениями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89720" y="2194560"/>
            <a:ext cx="2724912" cy="365760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256032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464040" y="3657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Результат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64040" y="4206240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PDF-обращение и чек-лист действий доступны для скачивания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Правовой маршрутизатор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Архитектура страниц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Семь страниц, объединённых единым потоком навигации</a:t>
            </a:r>
            <a:endParaRPr lang="en-US" sz="1500" dirty="0"/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1CCB48F2-6F72-D90C-DC61-BB5D7AF4D333}"/>
              </a:ext>
            </a:extLst>
          </p:cNvPr>
          <p:cNvGrpSpPr/>
          <p:nvPr/>
        </p:nvGrpSpPr>
        <p:grpSpPr>
          <a:xfrm>
            <a:off x="3490708" y="2370740"/>
            <a:ext cx="2377440" cy="1097280"/>
            <a:chOff x="4937760" y="2377440"/>
            <a:chExt cx="2377440" cy="1097280"/>
          </a:xfrm>
        </p:grpSpPr>
        <p:sp>
          <p:nvSpPr>
            <p:cNvPr id="6" name="Shape 4"/>
            <p:cNvSpPr/>
            <p:nvPr/>
          </p:nvSpPr>
          <p:spPr>
            <a:xfrm>
              <a:off x="4937760" y="2377440"/>
              <a:ext cx="2377440" cy="1097280"/>
            </a:xfrm>
            <a:prstGeom prst="roundRect">
              <a:avLst>
                <a:gd name="adj" fmla="val 10000"/>
              </a:avLst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937760" y="251460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ea typeface="Trebuchet MS" pitchFamily="34" charset="-122"/>
                  <a:cs typeface="Trebuchet MS" pitchFamily="34" charset="-120"/>
                </a:rPr>
                <a:t>/index</a:t>
              </a:r>
              <a:endParaRPr lang="en-US" sz="1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937760" y="288036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D5DCE8"/>
                  </a:solidFill>
                  <a:ea typeface="Calibri" pitchFamily="34" charset="-122"/>
                  <a:cs typeface="Calibri" pitchFamily="34" charset="-120"/>
                </a:rPr>
                <a:t>Главное меню</a:t>
              </a:r>
              <a:endParaRPr lang="en-US" sz="13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548641" y="4206240"/>
            <a:ext cx="192811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1" y="4343400"/>
            <a:ext cx="192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/route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1" y="4709160"/>
            <a:ext cx="192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Маршрут запроса</a:t>
            </a:r>
            <a:endParaRPr lang="en-US" sz="1300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83457902-E936-7B7F-FA44-57F2C49C7F93}"/>
              </a:ext>
            </a:extLst>
          </p:cNvPr>
          <p:cNvGrpSpPr/>
          <p:nvPr/>
        </p:nvGrpSpPr>
        <p:grpSpPr>
          <a:xfrm>
            <a:off x="2684256" y="4200184"/>
            <a:ext cx="1928112" cy="1097280"/>
            <a:chOff x="2898824" y="4206240"/>
            <a:chExt cx="1928112" cy="1097280"/>
          </a:xfrm>
        </p:grpSpPr>
        <p:sp>
          <p:nvSpPr>
            <p:cNvPr id="12" name="Shape 10"/>
            <p:cNvSpPr/>
            <p:nvPr/>
          </p:nvSpPr>
          <p:spPr>
            <a:xfrm>
              <a:off x="2898824" y="4206240"/>
              <a:ext cx="1928112" cy="109728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2898824" y="4343400"/>
              <a:ext cx="19281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/knowledge</a:t>
              </a:r>
              <a:endParaRPr lang="en-US" sz="1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898824" y="4709160"/>
              <a:ext cx="19281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База знаний</a:t>
              </a:r>
              <a:endParaRPr lang="en-US" sz="1300" dirty="0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CC8F2789-174C-8AEC-226F-C74ABA08126F}"/>
              </a:ext>
            </a:extLst>
          </p:cNvPr>
          <p:cNvGrpSpPr/>
          <p:nvPr/>
        </p:nvGrpSpPr>
        <p:grpSpPr>
          <a:xfrm>
            <a:off x="2684256" y="5554980"/>
            <a:ext cx="1928112" cy="1005840"/>
            <a:chOff x="6217920" y="4206240"/>
            <a:chExt cx="2377440" cy="1097280"/>
          </a:xfrm>
        </p:grpSpPr>
        <p:sp>
          <p:nvSpPr>
            <p:cNvPr id="15" name="Shape 13"/>
            <p:cNvSpPr/>
            <p:nvPr/>
          </p:nvSpPr>
          <p:spPr>
            <a:xfrm>
              <a:off x="6217920" y="4206240"/>
              <a:ext cx="2377440" cy="109728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217920" y="434340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/article</a:t>
              </a:r>
              <a:endParaRPr lang="en-US" sz="18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217920" y="470916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Статья</a:t>
              </a:r>
              <a:endParaRPr lang="en-US" sz="13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87B2EAC6-6E11-F764-37DB-86334C4F5670}"/>
              </a:ext>
            </a:extLst>
          </p:cNvPr>
          <p:cNvGrpSpPr/>
          <p:nvPr/>
        </p:nvGrpSpPr>
        <p:grpSpPr>
          <a:xfrm>
            <a:off x="6925580" y="4194810"/>
            <a:ext cx="1928112" cy="1097280"/>
            <a:chOff x="7599190" y="4200184"/>
            <a:chExt cx="1928112" cy="1097280"/>
          </a:xfrm>
        </p:grpSpPr>
        <p:sp>
          <p:nvSpPr>
            <p:cNvPr id="18" name="Shape 16"/>
            <p:cNvSpPr/>
            <p:nvPr/>
          </p:nvSpPr>
          <p:spPr>
            <a:xfrm>
              <a:off x="7599190" y="4200184"/>
              <a:ext cx="1928112" cy="109728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7599190" y="4337344"/>
              <a:ext cx="19281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/contact</a:t>
              </a:r>
              <a:endParaRPr lang="en-US" sz="1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599190" y="4703104"/>
              <a:ext cx="19281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Запись на консультацию</a:t>
              </a:r>
              <a:endParaRPr lang="en-US" sz="1300" dirty="0"/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B9541C6B-3C63-5A19-C3E4-92DF440B83FF}"/>
              </a:ext>
            </a:extLst>
          </p:cNvPr>
          <p:cNvGrpSpPr/>
          <p:nvPr/>
        </p:nvGrpSpPr>
        <p:grpSpPr>
          <a:xfrm>
            <a:off x="548641" y="5554980"/>
            <a:ext cx="1928112" cy="1005840"/>
            <a:chOff x="3383280" y="5577840"/>
            <a:chExt cx="2377440" cy="1005840"/>
          </a:xfrm>
        </p:grpSpPr>
        <p:sp>
          <p:nvSpPr>
            <p:cNvPr id="21" name="Shape 19"/>
            <p:cNvSpPr/>
            <p:nvPr/>
          </p:nvSpPr>
          <p:spPr>
            <a:xfrm>
              <a:off x="3383280" y="5577840"/>
              <a:ext cx="237744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383280" y="5696712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/result</a:t>
              </a:r>
              <a:endParaRPr lang="en-US" sz="1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383280" y="603504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Результат: PDF</a:t>
              </a:r>
              <a:endParaRPr lang="en-US" sz="1300" dirty="0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7451AD5B-AE4E-76BB-3239-3FE820AA2B53}"/>
              </a:ext>
            </a:extLst>
          </p:cNvPr>
          <p:cNvGrpSpPr/>
          <p:nvPr/>
        </p:nvGrpSpPr>
        <p:grpSpPr>
          <a:xfrm>
            <a:off x="4804918" y="4206240"/>
            <a:ext cx="1928112" cy="1091224"/>
            <a:chOff x="6217920" y="5577840"/>
            <a:chExt cx="2377440" cy="1005840"/>
          </a:xfrm>
        </p:grpSpPr>
        <p:sp>
          <p:nvSpPr>
            <p:cNvPr id="24" name="Shape 22"/>
            <p:cNvSpPr/>
            <p:nvPr/>
          </p:nvSpPr>
          <p:spPr>
            <a:xfrm>
              <a:off x="6217920" y="5577840"/>
              <a:ext cx="2377440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217920" y="5696712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/profile</a:t>
              </a:r>
              <a:endParaRPr lang="en-US" sz="18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217920" y="603504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Личный кабинет </a:t>
              </a:r>
              <a:br>
                <a:rPr lang="ru-RU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</a:br>
              <a:r>
                <a:rPr lang="ru-RU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пользователя</a:t>
              </a:r>
              <a:endParaRPr lang="en-US" sz="1300" dirty="0"/>
            </a:p>
          </p:txBody>
        </p:sp>
      </p:grpSp>
      <p:sp>
        <p:nvSpPr>
          <p:cNvPr id="28" name="Shape 26"/>
          <p:cNvSpPr/>
          <p:nvPr/>
        </p:nvSpPr>
        <p:spPr>
          <a:xfrm flipH="1">
            <a:off x="3725082" y="3483260"/>
            <a:ext cx="996179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679428" y="3468664"/>
            <a:ext cx="3219918" cy="726146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642250" y="5318760"/>
            <a:ext cx="0" cy="27432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9C25EF84-8965-6F1E-D291-B1594074758A}"/>
              </a:ext>
            </a:extLst>
          </p:cNvPr>
          <p:cNvGrpSpPr/>
          <p:nvPr/>
        </p:nvGrpSpPr>
        <p:grpSpPr>
          <a:xfrm>
            <a:off x="9295391" y="2371384"/>
            <a:ext cx="2377440" cy="1097280"/>
            <a:chOff x="4937760" y="2377440"/>
            <a:chExt cx="2377440" cy="1097280"/>
          </a:xfrm>
        </p:grpSpPr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74B0F2D8-52AE-F8E2-A878-A16F4F26AC31}"/>
                </a:ext>
              </a:extLst>
            </p:cNvPr>
            <p:cNvSpPr/>
            <p:nvPr/>
          </p:nvSpPr>
          <p:spPr>
            <a:xfrm>
              <a:off x="4937760" y="2377440"/>
              <a:ext cx="2377440" cy="1097280"/>
            </a:xfrm>
            <a:prstGeom prst="roundRect">
              <a:avLst>
                <a:gd name="adj" fmla="val 10000"/>
              </a:avLst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</p:sp>
        <p:sp>
          <p:nvSpPr>
            <p:cNvPr id="38" name="Text 5">
              <a:extLst>
                <a:ext uri="{FF2B5EF4-FFF2-40B4-BE49-F238E27FC236}">
                  <a16:creationId xmlns:a16="http://schemas.microsoft.com/office/drawing/2014/main" id="{692C86CA-E9C7-50B9-A003-8507FDC3B040}"/>
                </a:ext>
              </a:extLst>
            </p:cNvPr>
            <p:cNvSpPr/>
            <p:nvPr/>
          </p:nvSpPr>
          <p:spPr>
            <a:xfrm>
              <a:off x="4937760" y="251460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ea typeface="Trebuchet MS" pitchFamily="34" charset="-122"/>
                  <a:cs typeface="Trebuchet MS" pitchFamily="34" charset="-120"/>
                </a:rPr>
                <a:t>/</a:t>
              </a:r>
              <a:r>
                <a:rPr lang="en-US" b="1" dirty="0">
                  <a:solidFill>
                    <a:srgbClr val="FFFFFF"/>
                  </a:solidFill>
                  <a:ea typeface="Trebuchet MS" pitchFamily="34" charset="-122"/>
                  <a:cs typeface="Trebuchet MS" pitchFamily="34" charset="-120"/>
                </a:rPr>
                <a:t>auth</a:t>
              </a:r>
              <a:endParaRPr lang="en-US" sz="1800" dirty="0"/>
            </a:p>
          </p:txBody>
        </p:sp>
        <p:sp>
          <p:nvSpPr>
            <p:cNvPr id="39" name="Text 6">
              <a:extLst>
                <a:ext uri="{FF2B5EF4-FFF2-40B4-BE49-F238E27FC236}">
                  <a16:creationId xmlns:a16="http://schemas.microsoft.com/office/drawing/2014/main" id="{73C97B4C-673E-A903-47A9-502ECBD6AFF1}"/>
                </a:ext>
              </a:extLst>
            </p:cNvPr>
            <p:cNvSpPr/>
            <p:nvPr/>
          </p:nvSpPr>
          <p:spPr>
            <a:xfrm>
              <a:off x="4937760" y="288036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1300" dirty="0">
                  <a:solidFill>
                    <a:srgbClr val="D5DCE8"/>
                  </a:solidFill>
                  <a:ea typeface="Calibri" pitchFamily="34" charset="-122"/>
                  <a:cs typeface="Calibri" pitchFamily="34" charset="-120"/>
                </a:rPr>
                <a:t>Авторизация / Регистрация</a:t>
              </a:r>
              <a:endParaRPr lang="en-US" sz="1300" dirty="0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7DAD8C3-9973-AF73-3D34-21C88523AD92}"/>
              </a:ext>
            </a:extLst>
          </p:cNvPr>
          <p:cNvGrpSpPr/>
          <p:nvPr/>
        </p:nvGrpSpPr>
        <p:grpSpPr>
          <a:xfrm>
            <a:off x="6925580" y="5554980"/>
            <a:ext cx="1928112" cy="1005840"/>
            <a:chOff x="6217920" y="4206240"/>
            <a:chExt cx="2377440" cy="1097280"/>
          </a:xfrm>
        </p:grpSpPr>
        <p:sp>
          <p:nvSpPr>
            <p:cNvPr id="41" name="Shape 13">
              <a:extLst>
                <a:ext uri="{FF2B5EF4-FFF2-40B4-BE49-F238E27FC236}">
                  <a16:creationId xmlns:a16="http://schemas.microsoft.com/office/drawing/2014/main" id="{BCD7456A-0FA2-0FEE-87C9-56E72E78EA72}"/>
                </a:ext>
              </a:extLst>
            </p:cNvPr>
            <p:cNvSpPr/>
            <p:nvPr/>
          </p:nvSpPr>
          <p:spPr>
            <a:xfrm>
              <a:off x="6217920" y="4206240"/>
              <a:ext cx="2377440" cy="109728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3701D977-C5B5-89C6-8663-AB69D23C7A1A}"/>
                </a:ext>
              </a:extLst>
            </p:cNvPr>
            <p:cNvSpPr/>
            <p:nvPr/>
          </p:nvSpPr>
          <p:spPr>
            <a:xfrm>
              <a:off x="6217920" y="434340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/</a:t>
              </a:r>
              <a:r>
                <a:rPr lang="en-US" sz="1800" b="1" dirty="0" err="1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contact_success</a:t>
              </a:r>
              <a:endParaRPr lang="en-US" sz="1800" dirty="0"/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252DC551-4FEB-B82B-CC5E-8F49058E5029}"/>
                </a:ext>
              </a:extLst>
            </p:cNvPr>
            <p:cNvSpPr/>
            <p:nvPr/>
          </p:nvSpPr>
          <p:spPr>
            <a:xfrm>
              <a:off x="6217920" y="470916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Подтверждение записи</a:t>
              </a:r>
              <a:endParaRPr lang="en-US" sz="1300" dirty="0"/>
            </a:p>
          </p:txBody>
        </p:sp>
      </p:grpSp>
      <p:sp>
        <p:nvSpPr>
          <p:cNvPr id="44" name="Shape 30">
            <a:extLst>
              <a:ext uri="{FF2B5EF4-FFF2-40B4-BE49-F238E27FC236}">
                <a16:creationId xmlns:a16="http://schemas.microsoft.com/office/drawing/2014/main" id="{EC8EBF69-8490-BE01-BF8A-229CCC4A0EED}"/>
              </a:ext>
            </a:extLst>
          </p:cNvPr>
          <p:cNvSpPr/>
          <p:nvPr/>
        </p:nvSpPr>
        <p:spPr>
          <a:xfrm>
            <a:off x="7899346" y="5292090"/>
            <a:ext cx="0" cy="27432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5D7A0025-47F0-3DB2-E479-7044705AC393}"/>
              </a:ext>
            </a:extLst>
          </p:cNvPr>
          <p:cNvSpPr/>
          <p:nvPr/>
        </p:nvSpPr>
        <p:spPr>
          <a:xfrm>
            <a:off x="1523598" y="5318760"/>
            <a:ext cx="0" cy="27432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19C0BDC6-9C7A-8C80-801F-B7A8E943E3B1}"/>
              </a:ext>
            </a:extLst>
          </p:cNvPr>
          <p:cNvSpPr/>
          <p:nvPr/>
        </p:nvSpPr>
        <p:spPr>
          <a:xfrm flipV="1">
            <a:off x="1501343" y="3483260"/>
            <a:ext cx="3219918" cy="726146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2EA389D8-3FF2-3956-18E1-BAB7ABC18476}"/>
              </a:ext>
            </a:extLst>
          </p:cNvPr>
          <p:cNvSpPr/>
          <p:nvPr/>
        </p:nvSpPr>
        <p:spPr>
          <a:xfrm flipH="1" flipV="1">
            <a:off x="4721261" y="3465977"/>
            <a:ext cx="996179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32A9D0D5-B7E6-2B24-B1BB-FDD544AE07BC}"/>
              </a:ext>
            </a:extLst>
          </p:cNvPr>
          <p:cNvGrpSpPr/>
          <p:nvPr/>
        </p:nvGrpSpPr>
        <p:grpSpPr>
          <a:xfrm>
            <a:off x="9520055" y="4180640"/>
            <a:ext cx="1928112" cy="1097280"/>
            <a:chOff x="7599190" y="4200184"/>
            <a:chExt cx="1928112" cy="1097280"/>
          </a:xfrm>
        </p:grpSpPr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D15FABED-DEA7-7955-CA85-746F094558B6}"/>
                </a:ext>
              </a:extLst>
            </p:cNvPr>
            <p:cNvSpPr/>
            <p:nvPr/>
          </p:nvSpPr>
          <p:spPr>
            <a:xfrm>
              <a:off x="7599190" y="4200184"/>
              <a:ext cx="1928112" cy="109728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</p:sp>
        <p:sp>
          <p:nvSpPr>
            <p:cNvPr id="53" name="Text 17">
              <a:extLst>
                <a:ext uri="{FF2B5EF4-FFF2-40B4-BE49-F238E27FC236}">
                  <a16:creationId xmlns:a16="http://schemas.microsoft.com/office/drawing/2014/main" id="{60FD7F56-E214-AFAD-707F-529717402756}"/>
                </a:ext>
              </a:extLst>
            </p:cNvPr>
            <p:cNvSpPr/>
            <p:nvPr/>
          </p:nvSpPr>
          <p:spPr>
            <a:xfrm>
              <a:off x="7599190" y="4337344"/>
              <a:ext cx="19281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/</a:t>
              </a:r>
              <a:r>
                <a:rPr lang="en-US" sz="1800" b="1" dirty="0" err="1">
                  <a:solidFill>
                    <a:srgbClr val="1E3A5F"/>
                  </a:solidFill>
                  <a:ea typeface="Trebuchet MS" pitchFamily="34" charset="-122"/>
                  <a:cs typeface="Trebuchet MS" pitchFamily="34" charset="-120"/>
                </a:rPr>
                <a:t>reset_pw</a:t>
              </a:r>
              <a:endParaRPr lang="en-US" sz="1800" dirty="0"/>
            </a:p>
          </p:txBody>
        </p:sp>
        <p:sp>
          <p:nvSpPr>
            <p:cNvPr id="54" name="Text 18">
              <a:extLst>
                <a:ext uri="{FF2B5EF4-FFF2-40B4-BE49-F238E27FC236}">
                  <a16:creationId xmlns:a16="http://schemas.microsoft.com/office/drawing/2014/main" id="{7DAECEFB-0937-AF03-46F1-D709E55D5D6F}"/>
                </a:ext>
              </a:extLst>
            </p:cNvPr>
            <p:cNvSpPr/>
            <p:nvPr/>
          </p:nvSpPr>
          <p:spPr>
            <a:xfrm>
              <a:off x="7599190" y="4703104"/>
              <a:ext cx="19281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1300" dirty="0">
                  <a:solidFill>
                    <a:srgbClr val="6B7280"/>
                  </a:solidFill>
                  <a:ea typeface="Calibri" pitchFamily="34" charset="-122"/>
                  <a:cs typeface="Calibri" pitchFamily="34" charset="-120"/>
                </a:rPr>
                <a:t>Сбор пароля</a:t>
              </a:r>
              <a:endParaRPr lang="en-US" sz="1300" dirty="0"/>
            </a:p>
          </p:txBody>
        </p:sp>
      </p:grpSp>
      <p:sp>
        <p:nvSpPr>
          <p:cNvPr id="55" name="Shape 26">
            <a:extLst>
              <a:ext uri="{FF2B5EF4-FFF2-40B4-BE49-F238E27FC236}">
                <a16:creationId xmlns:a16="http://schemas.microsoft.com/office/drawing/2014/main" id="{D64A2FA7-0463-0E1B-CFA8-5630805D1559}"/>
              </a:ext>
            </a:extLst>
          </p:cNvPr>
          <p:cNvSpPr/>
          <p:nvPr/>
        </p:nvSpPr>
        <p:spPr>
          <a:xfrm flipH="1" flipV="1">
            <a:off x="10484111" y="3465977"/>
            <a:ext cx="0" cy="714663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ЭКРАН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Главное меню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371600" cy="0"/>
          </a:xfrm>
          <a:prstGeom prst="line">
            <a:avLst/>
          </a:prstGeom>
          <a:noFill/>
          <a:ln w="25400">
            <a:solidFill>
              <a:srgbClr val="3B5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Пользователь выбирает направление работы. Три </a:t>
            </a:r>
            <a:r>
              <a:rPr lang="en-US" sz="1400" dirty="0" err="1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карточки</a:t>
            </a:r>
            <a:r>
              <a:rPr lang="en-US" sz="14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 - три ветки маршрута. Под </a:t>
            </a:r>
            <a:r>
              <a:rPr lang="en-US" sz="1400" dirty="0" err="1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ними</a:t>
            </a:r>
            <a:r>
              <a:rPr lang="en-US" sz="14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 - запасной путь: запись к юристу на консультацию.</a:t>
            </a:r>
            <a:endParaRPr lang="en-US" sz="140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81535FE-BCE1-18F4-FCA9-41722D15F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41567"/>
            <a:ext cx="7315041" cy="46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ЭКРАН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Запись на консультацию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371600" cy="0"/>
          </a:xfrm>
          <a:prstGeom prst="line">
            <a:avLst/>
          </a:prstGeom>
          <a:noFill/>
          <a:ln w="25400">
            <a:solidFill>
              <a:srgbClr val="3B5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Форма для сложных случаев, которые не подходят под типовые маршруты. Юрист свяжется в течение 48 часов и подключится к разбору ситуации лично.</a:t>
            </a:r>
            <a:endParaRPr lang="en-US" sz="140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229A2D8-DC50-7EDE-A07C-AE4C9986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192" y="1089000"/>
            <a:ext cx="7325217" cy="46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ЭКРАН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Готовый результат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371600" cy="0"/>
          </a:xfrm>
          <a:prstGeom prst="line">
            <a:avLst/>
          </a:prstGeom>
          <a:noFill/>
          <a:ln w="25400">
            <a:solidFill>
              <a:srgbClr val="3B5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После прохождения маршрута пользователь получает два PDF: готовое обращение в юридическую службу и чек-лист дальнейших действий по запросу.</a:t>
            </a:r>
            <a:endParaRPr lang="en-US" sz="14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A761B5A-A26E-FE96-034F-0C091535E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477" y="1089000"/>
            <a:ext cx="7325217" cy="46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ЭКРАН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База знаний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371600" cy="0"/>
          </a:xfrm>
          <a:prstGeom prst="line">
            <a:avLst/>
          </a:prstGeom>
          <a:noFill/>
          <a:ln w="25400">
            <a:solidFill>
              <a:srgbClr val="3B5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Карточки статей с категориями и тегами. Поиск без регистра по названию, тексту и тегам. Фильтр по категории. Клик открывает полную статью.</a:t>
            </a:r>
            <a:endParaRPr lang="en-US" sz="1400" dirty="0"/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EE2E546B-671B-16C4-B11A-E6FC010E2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415" y="1089000"/>
            <a:ext cx="7325217" cy="46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Правовой маршрутизатор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Модель данных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Основные типы данных приложения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3657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User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first_name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47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last_name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813048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313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middle_name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197096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153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581144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99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965192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83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67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733288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751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219456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5112" y="219456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2514600"/>
            <a:ext cx="3657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KnowledgeArticle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99432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title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99432" y="3429000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3447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body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99432" y="3813048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38313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99432" y="4197096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42153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tags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99432" y="4581144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9432" y="4599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99432" y="4965192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9432" y="4983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is_published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99432" y="5349240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5367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created_date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99432" y="5733288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9432" y="5751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slug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01584" y="2194560"/>
            <a:ext cx="36576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01584" y="219456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01584" y="2514600"/>
            <a:ext cx="3657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84464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375904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375904" y="3429000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75904" y="3447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subject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375904" y="3813048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75904" y="38313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375904" y="4197096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75904" y="42153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75904" y="4581144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75904" y="4599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375904" y="4965192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75904" y="4983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375904" y="5349240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75904" y="5367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375904" y="5733288"/>
            <a:ext cx="31089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75904" y="5751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Правовой маршрутизатор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Технологии и реализация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Платформа Bubble - визуальная сборка без кода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Стек проекта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044952"/>
            <a:ext cx="91440" cy="9144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Bubble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971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Визуальный конструктор страниц и логики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91440" cy="9144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538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Встроенная БД для статей и пользователей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178808"/>
            <a:ext cx="91440" cy="9144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05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41056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Сценарии действий и навигации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745736"/>
            <a:ext cx="91440" cy="9144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72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Privacy Rules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6725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Разграничение видимости данных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312664"/>
            <a:ext cx="91440" cy="9144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239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Repeating Group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5239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Списки с поиском и фильтрами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879592"/>
            <a:ext cx="91440" cy="9144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806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ea typeface="Trebuchet MS" pitchFamily="34" charset="-122"/>
                <a:cs typeface="Trebuchet MS" pitchFamily="34" charset="-120"/>
              </a:rPr>
              <a:t>Option Sets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5806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Категории и статусы статей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1945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Объём работы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3017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10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649224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страниц приложения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98280" y="3017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6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909828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типов</a:t>
            </a:r>
            <a:r>
              <a:rPr lang="en-US" sz="1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заявок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754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8+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6492240" y="5806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workflow-сценариев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98280" y="4754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4</a:t>
            </a:r>
            <a:endParaRPr lang="en-US" sz="6000" dirty="0"/>
          </a:p>
        </p:txBody>
      </p:sp>
      <p:sp>
        <p:nvSpPr>
          <p:cNvPr id="35" name="Text 33"/>
          <p:cNvSpPr/>
          <p:nvPr/>
        </p:nvSpPr>
        <p:spPr>
          <a:xfrm>
            <a:off x="9098280" y="5806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категории статей в БД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B5C8F"/>
          </a:solidFill>
          <a:ln w="12700">
            <a:solidFill>
              <a:srgbClr val="3B5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800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СПАСИБО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за внимание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4572000" cy="0"/>
          </a:xfrm>
          <a:prstGeom prst="line">
            <a:avLst/>
          </a:prstGeom>
          <a:noFill/>
          <a:ln w="25400">
            <a:solidFill>
              <a:srgbClr val="3B5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DCE8"/>
                </a:solidFill>
                <a:ea typeface="Calibri" pitchFamily="34" charset="-122"/>
                <a:cs typeface="Calibri" pitchFamily="34" charset="-120"/>
              </a:rPr>
              <a:t>Команда: Андрианова · Бахтина · Кабанова · Коробова · Премудров · Пыхтеев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6CF"/>
                </a:solidFill>
                <a:ea typeface="Calibri" pitchFamily="34" charset="-122"/>
                <a:cs typeface="Calibri" pitchFamily="34" charset="-120"/>
              </a:rPr>
              <a:t>Дисциплина: Программирование без кода · Платформа: Bubble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599</Words>
  <Application>Microsoft Office PowerPoint</Application>
  <PresentationFormat>Широкоэкранный</PresentationFormat>
  <Paragraphs>168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Правовой маршрутизатор</dc:title>
  <dc:subject>PptxGenJS Presentation</dc:subject>
  <dc:creator>Пыхтеев Владислав</dc:creator>
  <cp:lastModifiedBy>Владислав Пыхтеев</cp:lastModifiedBy>
  <cp:revision>2</cp:revision>
  <dcterms:created xsi:type="dcterms:W3CDTF">2026-06-16T15:39:00Z</dcterms:created>
  <dcterms:modified xsi:type="dcterms:W3CDTF">2026-06-21T17:50:17Z</dcterms:modified>
</cp:coreProperties>
</file>